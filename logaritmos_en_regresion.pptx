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24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2324F"/>
                </a:solidFill>
                <a:latin typeface="Arial"/>
              </a:rPr>
              <a:t>ln(y) vs ln(x): pendiente = β₁ = 0,8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ln(y)</c:v>
                </c:pt>
              </c:strCache>
            </c:strRef>
          </c:tx>
          <c:spPr>
            <a:solidFill>
              <a:srgbClr val="E0A03A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E0A03A"/>
              </a:solidFill>
              <a:ln w="9525" cap="flat">
                <a:solidFill>
                  <a:srgbClr val="E0A03A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0.693</c:v>
                </c:pt>
                <c:pt idx="2">
                  <c:v>1.099</c:v>
                </c:pt>
                <c:pt idx="3">
                  <c:v>1.609</c:v>
                </c:pt>
                <c:pt idx="4">
                  <c:v>2.079</c:v>
                </c:pt>
                <c:pt idx="5">
                  <c:v>2.485</c:v>
                </c:pt>
                <c:pt idx="6">
                  <c:v>2.89</c:v>
                </c:pt>
                <c:pt idx="7">
                  <c:v>3.219</c:v>
                </c:pt>
                <c:pt idx="8">
                  <c:v>3.555</c:v>
                </c:pt>
                <c:pt idx="9">
                  <c:v>3.912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1.099</c:v>
                </c:pt>
                <c:pt idx="1">
                  <c:v>1.653</c:v>
                </c:pt>
                <c:pt idx="2">
                  <c:v>1.978</c:v>
                </c:pt>
                <c:pt idx="3">
                  <c:v>2.386</c:v>
                </c:pt>
                <c:pt idx="4">
                  <c:v>2.762</c:v>
                </c:pt>
                <c:pt idx="5">
                  <c:v>3.087</c:v>
                </c:pt>
                <c:pt idx="6">
                  <c:v>3.411</c:v>
                </c:pt>
                <c:pt idx="7">
                  <c:v>3.674</c:v>
                </c:pt>
                <c:pt idx="8">
                  <c:v>3.943</c:v>
                </c:pt>
                <c:pt idx="9">
                  <c:v>4.228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674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67486"/>
                    </a:solidFill>
                    <a:latin typeface="Arial"/>
                  </a:rPr>
                  <a:t>ln(x)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674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67486"/>
                    </a:solidFill>
                    <a:latin typeface="Arial"/>
                  </a:rPr>
                  <a:t>ln(y)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(nivel)</c:v>
                </c:pt>
              </c:strCache>
            </c:strRef>
          </c:tx>
          <c:spPr>
            <a:solidFill>
              <a:srgbClr val="667486"/>
            </a:solidFill>
            <a:ln w="31750" cap="flat">
              <a:solidFill>
                <a:srgbClr val="6674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67486"/>
              </a:solidFill>
              <a:ln w="9525" cap="flat">
                <a:solidFill>
                  <a:srgbClr val="6674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112</c:v>
                </c:pt>
                <c:pt idx="2">
                  <c:v>125</c:v>
                </c:pt>
                <c:pt idx="3">
                  <c:v>140</c:v>
                </c:pt>
                <c:pt idx="4">
                  <c:v>157</c:v>
                </c:pt>
                <c:pt idx="5">
                  <c:v>176</c:v>
                </c:pt>
                <c:pt idx="6">
                  <c:v>197</c:v>
                </c:pt>
                <c:pt idx="7">
                  <c:v>221</c:v>
                </c:pt>
                <c:pt idx="8">
                  <c:v>248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ln(y)</c:v>
                </c:pt>
              </c:strCache>
            </c:strRef>
          </c:tx>
          <c:spPr>
            <a:solidFill>
              <a:srgbClr val="2A7F8E"/>
            </a:solidFill>
            <a:ln w="31750" cap="flat">
              <a:solidFill>
                <a:srgbClr val="2A7F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F8E"/>
              </a:solidFill>
              <a:ln w="9525" cap="flat">
                <a:solidFill>
                  <a:srgbClr val="2A7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4.605</c:v>
                </c:pt>
                <c:pt idx="1">
                  <c:v>4.718</c:v>
                </c:pt>
                <c:pt idx="2">
                  <c:v>4.832</c:v>
                </c:pt>
                <c:pt idx="3">
                  <c:v>4.945</c:v>
                </c:pt>
                <c:pt idx="4">
                  <c:v>5.058</c:v>
                </c:pt>
                <c:pt idx="5">
                  <c:v>5.172</c:v>
                </c:pt>
                <c:pt idx="6">
                  <c:v>5.285</c:v>
                </c:pt>
                <c:pt idx="7">
                  <c:v>5.398</c:v>
                </c:pt>
                <c:pt idx="8">
                  <c:v>5.512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= 10 + 8·ln(x)</c:v>
                </c:pt>
              </c:strCache>
            </c:strRef>
          </c:tx>
          <c:spPr>
            <a:solidFill>
              <a:srgbClr val="2A7F8E"/>
            </a:solidFill>
            <a:ln w="38100" cap="flat">
              <a:solidFill>
                <a:srgbClr val="2A7F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F8E"/>
              </a:solidFill>
              <a:ln w="9525" cap="flat">
                <a:solidFill>
                  <a:srgbClr val="2A7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  <c:pt idx="7">
                    <c:v>128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15.5</c:v>
                </c:pt>
                <c:pt idx="2">
                  <c:v>21.1</c:v>
                </c:pt>
                <c:pt idx="3">
                  <c:v>26.6</c:v>
                </c:pt>
                <c:pt idx="4">
                  <c:v>32.2</c:v>
                </c:pt>
                <c:pt idx="5">
                  <c:v>37.7</c:v>
                </c:pt>
                <c:pt idx="6">
                  <c:v>43.3</c:v>
                </c:pt>
                <c:pt idx="7">
                  <c:v>48.8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674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67486"/>
                    </a:solidFill>
                    <a:latin typeface="Arial"/>
                  </a:rPr>
                  <a:t>x (nivel)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674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67486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</c:v>
                </c:pt>
              </c:strCache>
            </c:strRef>
          </c:tx>
          <c:spPr>
            <a:solidFill>
              <a:srgbClr val="6674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</c:v>
                </c:pt>
                <c:pt idx="1">
                  <c:v>88</c:v>
                </c:pt>
                <c:pt idx="2">
                  <c:v>72</c:v>
                </c:pt>
                <c:pt idx="3">
                  <c:v>41</c:v>
                </c:pt>
                <c:pt idx="4">
                  <c:v>24</c:v>
                </c:pt>
                <c:pt idx="5">
                  <c:v>13</c:v>
                </c:pt>
                <c:pt idx="6">
                  <c:v>8</c:v>
                </c:pt>
                <c:pt idx="7">
                  <c:v>5</c:v>
                </c:pt>
                <c:pt idx="8">
                  <c:v>3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</c:v>
                </c:pt>
              </c:strCache>
            </c:strRef>
          </c:tx>
          <c:spPr>
            <a:solidFill>
              <a:srgbClr val="2A7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7</c:v>
                </c:pt>
                <c:pt idx="2">
                  <c:v>17</c:v>
                </c:pt>
                <c:pt idx="3">
                  <c:v>31</c:v>
                </c:pt>
                <c:pt idx="4">
                  <c:v>41</c:v>
                </c:pt>
                <c:pt idx="5">
                  <c:v>39</c:v>
                </c:pt>
                <c:pt idx="6">
                  <c:v>26</c:v>
                </c:pt>
                <c:pt idx="7">
                  <c:v>15</c:v>
                </c:pt>
                <c:pt idx="8">
                  <c:v>7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4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1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A7F8E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ECONOMETRÍA · TRANSFORMACIONES FUNCIONALES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Logaritmos en regresión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6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son, cómo transforman a la variable dependiente y a las explicativas,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6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propiedades y por qué funcionan tan bien cuando hay mucha dispersión.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log-log  </a:t>
            </a:r>
            <a:pPr indent="0" marL="0">
              <a:buNone/>
            </a:pPr>
            <a:r>
              <a:rPr lang="en-US" sz="1600" i="1" dirty="0">
                <a:solidFill>
                  <a:srgbClr val="9FB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log-lin  ·  lin-log  ·  elasticidades  ·  varianza estabilizada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logaritmo?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F8E"/>
                </a:solidFill>
              </a:rPr>
              <a:t>La pregunta que responde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El logaritmo en base b de un número es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el exponente al que hay que elevar b para obtener ese número.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4937760" cy="1051560"/>
          </a:xfrm>
          <a:prstGeom prst="roundRect">
            <a:avLst>
              <a:gd name="adj" fmla="val 7826"/>
            </a:avLst>
          </a:prstGeom>
          <a:solidFill>
            <a:srgbClr val="1232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3035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log_b(x) = y   ⇔   b^y = x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34930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0E6"/>
                </a:solidFill>
              </a:rPr>
              <a:t>Ej.: log₁₀(1000) = 3 porque 10³ = 1000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En regresión casi siempre usamos el logaritmo natural (ln), en base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A7F8E"/>
                </a:solidFill>
              </a:rPr>
              <a:t>e ≈ 2,718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. Es el que da las interpretaciones limpias de porcentaje y elasticidad.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E8F0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F"/>
                </a:solidFill>
              </a:rPr>
              <a:t>Propiedades que lo hacen útil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20574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Convierte productos en sumas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ln(a·b) = ln(a) + ln(b)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Convierte razones en restas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ln(a/b) = ln(a) − ln(b)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Convierte potencias en factores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ln(x^k) = k · ln(x)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monótona creciente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674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 el orden: preserva el ranking de los datos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clave para la regresión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24F"/>
                </a:solidFill>
              </a:rPr>
              <a:t>Los cambios en logaritmos ≈ cambios porcentuales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1232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0756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ln(x)  ≈  (Δx / x)   =   variación proporcional de x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53288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0E6"/>
                </a:solidFill>
              </a:rPr>
              <a:t>Para cambios pequeños, la diferencia de logaritmos aproxima el cambio porcentual (×100 para %).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F8E"/>
                </a:solidFill>
              </a:rPr>
              <a:t>Por qué importa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9319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Un modelo lineal habla en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unidades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 (pesos, m², personas). Al meter la variable en logaritmo, el mismo coeficiente pasa a hablar en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A7F8E"/>
                </a:solidFill>
              </a:rPr>
              <a:t>porcentajes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, que suele ser la forma natural de pensar el crecimiento del ingreso, precios o demanda.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72200" y="338328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E8F0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4652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4F"/>
                </a:solidFill>
              </a:rPr>
              <a:t>Cuán buena es la aproximación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77640"/>
          <a:ext cx="4937760" cy="173736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Cambio real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Δ ln (aprox.)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+1 %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0,995 %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+5 %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4,88 %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+10 %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9,53 %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+25 %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22,3 %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446520" y="5760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486"/>
                </a:solidFill>
              </a:rPr>
              <a:t>Excelente hasta ~10-15 %; para saltos grandes conviene la fórmula exacta.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modelos y su interpretación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29184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210312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Ecuación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β₁ mide…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Interpretación de β₁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2324F"/>
                          </a:solidFill>
                        </a:rPr>
                        <a:t>Nivel–nivel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y = β₀ + β₁x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Pendiente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Si x sube 1 unidad, y cambia β₁ unidades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7F8E"/>
                          </a:solidFill>
                        </a:rPr>
                        <a:t>Log–lin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ln(y) = β₀ + β₁x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Semi-elasticidad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Si x sube 1 unidad, y cambia ≈ 100·β₁ 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7F8E"/>
                          </a:solidFill>
                        </a:rPr>
                        <a:t>Lin–log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y = β₀ + β₁ln(x)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Semi-elasticidad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Si x sube 1 %, y cambia ≈ β₁/100 unidades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0A03A"/>
                          </a:solidFill>
                        </a:rPr>
                        <a:t>Log–log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ln(y) = β₀ + β₁ln(x)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Elasticidad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Si x sube 1 %, y cambia ≈ β₁ 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1663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8F0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53035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324F"/>
                </a:solidFill>
              </a:rPr>
              <a:t>Regla mnemotécnica: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la variable que está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7F8E"/>
                </a:solidFill>
              </a:rPr>
              <a:t>en logaritmo se lee en porcentaje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; la que está en nivel se lee en unidades. El log–log es el único donde β₁ es directamente una elasticidad constante.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Log–log: la elasticidad constante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029200" cy="4526280"/>
          </a:xfrm>
          <a:prstGeom prst="roundRect">
            <a:avLst>
              <a:gd name="adj" fmla="val 181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ln(y) = β₀ + β₁ ln(x)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β₁ es la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0A03A"/>
                </a:solidFill>
              </a:rPr>
              <a:t>elasticidad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 de y respecto a x: el % de cambio en y ante un cambio de 1 % en x, y es constante en todo el rango.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A7F8E"/>
                </a:solidFill>
              </a:rPr>
              <a:t>Ejemplo: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si β₁ = 0,8 en una demanda, subir el precio 10 % reduce la cantidad ≈ 8 %.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Ideal para relaciones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multiplicativas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 (y = A·x^β·e^u), muy comunes en ingresos, producción y demanda.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852160" y="1463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486"/>
                </a:solidFill>
              </a:rPr>
              <a:t>En niveles la relación es curva; en logaritmos, una recta: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760720" y="187452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Log–lin: crecimiento y semi-elasticidad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ln(y) = β₀ + β₁ x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Solo la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dependiente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 está en logaritmo. Un aumento de 1 unidad en x cambia a y en ≈ 100·β₁ %.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A7F8E"/>
                </a:solidFill>
              </a:rPr>
              <a:t>Caso estrella — crecimiento en el tiempo: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con x = año, β₁ es la tasa de crecimiento (aprox.) por período. Un salario con β₁ = 0,04 crece ≈ 4 % al año.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Exacto (para β₁ grandes):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cambio en y = 100·(e^β₁ − 1)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5303520" cy="4526280"/>
          </a:xfrm>
          <a:prstGeom prst="roundRect">
            <a:avLst>
              <a:gd name="adj" fmla="val 1818"/>
            </a:avLst>
          </a:prstGeom>
          <a:solidFill>
            <a:srgbClr val="E8F0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F"/>
                </a:solidFill>
              </a:rPr>
              <a:t>El logaritmo endereza el crecimiento exponencial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46520" y="196596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" descr=""/>
          <p:cNvGraphicFramePr/>
          <p:nvPr/>
        </p:nvGraphicFramePr>
        <p:xfrm>
          <a:off x="6446520" y="393192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/>
          <p:nvPr/>
        </p:nvSpPr>
        <p:spPr>
          <a:xfrm>
            <a:off x="6446520" y="5760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486"/>
                </a:solidFill>
              </a:rPr>
              <a:t>Arriba: nivel (curva). Abajo: ln(y) crece en línea recta → pendiente = tasa.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Lin–log: rendimientos decrecientes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94960" cy="4526280"/>
          </a:xfrm>
          <a:prstGeom prst="roundRect">
            <a:avLst>
              <a:gd name="adj" fmla="val 181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β₀ + β₁ ln(x)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Solo la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</a:rPr>
              <a:t>explicativa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 está en logaritmo. Un aumento de 1 % en x cambia a y en ≈ β₁/100 unidades.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A7F8E"/>
                </a:solidFill>
              </a:rPr>
              <a:t>Captura rendimientos decrecientes: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cada punto porcentual extra de x aporta lo mismo, pero en niveles el efecto se va aplanando. Útil cuando x tiene efecto fuerte al inicio y se satura (p. ej. años de educación sobre el salario, o gasto sobre resultados).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722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486"/>
                </a:solidFill>
              </a:rPr>
              <a:t>Forma cóncava: mismo % de aumento, efecto marginal decreciente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126480" y="192024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 con datos muy dispersos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24F"/>
                </a:solidFill>
              </a:rPr>
              <a:t>El logaritmo comprime la cola larga y estabiliza la varianza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486"/>
                </a:solidFill>
              </a:rPr>
              <a:t>Ingreso en niveles: asimétrico a la derecha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19456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4617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486"/>
                </a:solidFill>
              </a:rPr>
              <a:t>Media ≫ mediana; pocos valores enormes dominan.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5508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E"/>
                </a:solidFill>
              </a:rPr>
              <a:t>ln(Ingreso): casi simétrico, forma de campana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17920" y="219456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6355080" y="4617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486"/>
                </a:solidFill>
              </a:rPr>
              <a:t>Media ≈ mediana; los valores extremos dejan de mandar.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8F0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41248" y="5193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F"/>
                </a:solidFill>
              </a:rPr>
              <a:t>Reduce la asimetría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41248" y="55046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Acerca las distribuciones sesgadas a la normal, ayudando a la inferencia (t, F, IC).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38912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8F0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590288" y="5193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F"/>
                </a:solidFill>
              </a:rPr>
              <a:t>Frena los outliers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90288" y="55046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Comprime la cola derecha, así los pocos valores gigantes dejan de arrastrar la recta.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50749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8F0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339328" y="5193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24F"/>
                </a:solidFill>
              </a:rPr>
              <a:t>Estabiliza la varianza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39328" y="55046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Si el error crece con el nivel (heterocedasticidad), el log lo homogeneiza.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finas y advertencias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801368"/>
            <a:ext cx="475488" cy="47548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165506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F"/>
                </a:solidFill>
              </a:rPr>
              <a:t>Solo valores positivos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0" y="161848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ln(x) no existe para x ≤ 0. Con ceros o negativos: usar ln(x+1), IHS (arcoseno hiperbólico) o replantear.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971800"/>
            <a:ext cx="475488" cy="47548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63040" y="282549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F"/>
                </a:solidFill>
              </a:rPr>
              <a:t>Aproximación vs. exacto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69280" y="27889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100·β₁ vale para cambios chicos. Para efectos grandes o dummies, usar 100·(e^β₁ − 1).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849624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4142232"/>
            <a:ext cx="475488" cy="47548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63040" y="39959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F"/>
                </a:solidFill>
              </a:rPr>
              <a:t>Sesgo de retransformación (Jensen)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669280" y="395935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E[ln y] ≠ ln E[y]. Al volver a niveles con exp(·) se subestima la media; corregir (p. ej. factor de Duan).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5020056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5312664"/>
            <a:ext cx="475488" cy="475488"/>
          </a:xfrm>
          <a:prstGeom prst="ellipse">
            <a:avLst/>
          </a:prstGeom>
          <a:solidFill>
            <a:srgbClr val="E0A03A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312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63040" y="5166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F"/>
                </a:solidFill>
              </a:rPr>
              <a:t>Cambia la escala del error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669280" y="512978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El modelo asume error aditivo en logs = error multiplicativo en niveles. Ojo al comparar R² entre y y ln(y).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A7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transformar con logaritmos?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E8F0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F8E"/>
                </a:solidFill>
              </a:rPr>
              <a:t>Buenos candidatos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Variables muy asimétricas o con cola larga (ingreso, precios, ventas, población).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Cuando te interesan cambios porcentuales o elasticidades, no unidades.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Relaciones multiplicativas o de crecimiento exponencial.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Varianza del error que crece con el nivel (embudo en los residuos).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Rendimientos decrecientes de una variable explicativa.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1463040"/>
            <a:ext cx="5303520" cy="4526280"/>
          </a:xfrm>
          <a:prstGeom prst="roundRect">
            <a:avLst>
              <a:gd name="adj" fmla="val 1818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1627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F"/>
                </a:solidFill>
              </a:rPr>
              <a:t>Piénsalo dos veces si…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29400" y="210312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Hay ceros o valores negativos (requiere IHS, ln(x+1) u otra vía).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La variable ya es simétrica y de escala acotada (%, tasas, índices).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La audiencia necesita el efecto en unidades concretas.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Vas a predecir niveles: recuerda corregir el sesgo de retransformación.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4A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Para recordar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C4A6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470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03A"/>
                </a:solidFill>
              </a:rPr>
              <a:t>ln = exponente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80560" y="184708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2E9"/>
                </a:solidFill>
              </a:rPr>
              <a:t>El logaritmo natural traduce niveles en escala proporcional (base 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C4A6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443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03A"/>
                </a:solidFill>
              </a:rPr>
              <a:t>log ⇒ porcentaje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294436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2E9"/>
                </a:solidFill>
              </a:rPr>
              <a:t>La variable en logaritmo se interpreta en %; en nivel, en unidades.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C4A6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416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03A"/>
                </a:solidFill>
              </a:rPr>
              <a:t>log–log = elasticidad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404164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2E9"/>
                </a:solidFill>
              </a:rPr>
              <a:t>β₁ constante = % de cambio en y por 1 % de cambio en x.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C4A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03A"/>
                </a:solidFill>
              </a:rPr>
              <a:t>Doma la dispersión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513892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2E9"/>
                </a:solidFill>
              </a:rPr>
              <a:t>Comprime colas, frena outliers y estabiliza la varianza del error.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Logaritmos en regresión</dc:title>
  <dc:subject>PptxGenJS Presentation</dc:subject>
  <dc:creator>Gabriel</dc:creator>
  <cp:lastModifiedBy>Gabriel</cp:lastModifiedBy>
  <cp:revision>1</cp:revision>
  <dcterms:created xsi:type="dcterms:W3CDTF">2026-07-10T00:08:59Z</dcterms:created>
  <dcterms:modified xsi:type="dcterms:W3CDTF">2026-07-10T00:08:59Z</dcterms:modified>
</cp:coreProperties>
</file>